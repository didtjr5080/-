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E4E"/>
    <a:srgbClr val="E8A5A5"/>
    <a:srgbClr val="D14B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3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552" y="9120019"/>
            <a:ext cx="910149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학년 </a:t>
            </a:r>
            <a:r>
              <a:rPr lang="en-US" altLang="ko-KR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반 </a:t>
            </a:r>
            <a:r>
              <a:rPr lang="en-US" altLang="ko-KR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32</a:t>
            </a:r>
            <a:r>
              <a:rPr lang="ko-KR" altLang="en-US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번 양석</a:t>
            </a:r>
            <a:endParaRPr lang="en-US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553" y="1222024"/>
            <a:ext cx="22269581" cy="2616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우리는 왜 통일을 </a:t>
            </a:r>
            <a:endParaRPr lang="en-US" altLang="ko-KR" sz="82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R_U" pitchFamily="34" charset="0"/>
            </a:endParaRPr>
          </a:p>
          <a:p>
            <a:r>
              <a:rPr lang="ko-KR" alt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해야만 할까</a:t>
            </a:r>
            <a:r>
              <a:rPr lang="en-US" sz="82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R_U" pitchFamily="34" charset="0"/>
              </a:rPr>
              <a:t>?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552" y="3878116"/>
            <a:ext cx="22269581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통일을 </a:t>
            </a:r>
            <a:r>
              <a:rPr lang="ko-KR" altLang="en-US" sz="3500" dirty="0" err="1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했을때의</a:t>
            </a:r>
            <a:r>
              <a:rPr lang="ko-KR" altLang="en-US" sz="35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 장점과 단점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993552" y="7071429"/>
            <a:ext cx="16328641" cy="251155"/>
            <a:chOff x="993552" y="7071429"/>
            <a:chExt cx="16328641" cy="25115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552" y="7071429"/>
              <a:ext cx="16328641" cy="25115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55E9E4FA-F02E-B067-14BC-4F43E9903F2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1133417"/>
            <a:ext cx="4206413" cy="5935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914612" y="4426393"/>
            <a:ext cx="2456491" cy="4699381"/>
            <a:chOff x="7914612" y="4426393"/>
            <a:chExt cx="2456491" cy="469938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4612" y="4426393"/>
              <a:ext cx="2456491" cy="469938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683333" y="2382355"/>
            <a:ext cx="1023389" cy="2044038"/>
            <a:chOff x="9683333" y="2382355"/>
            <a:chExt cx="1023389" cy="2044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3333" y="2382355"/>
              <a:ext cx="1023389" cy="20440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583754" y="2382355"/>
            <a:ext cx="1023389" cy="2044038"/>
            <a:chOff x="7583754" y="2382355"/>
            <a:chExt cx="1023389" cy="20440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3754" y="2382355"/>
              <a:ext cx="1023389" cy="20440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195028" y="2382355"/>
            <a:ext cx="7097134" cy="6899813"/>
            <a:chOff x="10195028" y="2382355"/>
            <a:chExt cx="7097134" cy="689981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5028" y="2382355"/>
              <a:ext cx="7097134" cy="68998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371103" y="5351670"/>
            <a:ext cx="6744984" cy="3776781"/>
            <a:chOff x="10371103" y="4430523"/>
            <a:chExt cx="6744984" cy="466863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71103" y="4430523"/>
              <a:ext cx="6744984" cy="466863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610600" y="3543300"/>
            <a:ext cx="1011747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통일을 하지 </a:t>
            </a:r>
            <a:r>
              <a:rPr lang="ko-KR" altLang="en-US" sz="4800" b="1" dirty="0" err="1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않았을때</a:t>
            </a:r>
            <a:endParaRPr lang="en-US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6" name="그룹 1006"/>
          <p:cNvGrpSpPr/>
          <p:nvPr/>
        </p:nvGrpSpPr>
        <p:grpSpPr>
          <a:xfrm>
            <a:off x="10367928" y="5321102"/>
            <a:ext cx="6751334" cy="2902617"/>
            <a:chOff x="10367928" y="5321102"/>
            <a:chExt cx="6751334" cy="2902617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0367928" y="5321102"/>
              <a:ext cx="6751334" cy="82169"/>
              <a:chOff x="10367928" y="5321102"/>
              <a:chExt cx="6751334" cy="82169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5321102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0367928" y="6261251"/>
              <a:ext cx="6751334" cy="82169"/>
              <a:chOff x="10367928" y="6261251"/>
              <a:chExt cx="6751334" cy="82169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626125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0367928" y="7201401"/>
              <a:ext cx="6751334" cy="82169"/>
              <a:chOff x="10367928" y="7201401"/>
              <a:chExt cx="6751334" cy="82169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720140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0367928" y="8141550"/>
              <a:ext cx="6751334" cy="82169"/>
              <a:chOff x="10367928" y="8141550"/>
              <a:chExt cx="6751334" cy="82169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367928" y="8141550"/>
                <a:ext cx="6751334" cy="82169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993553" y="2382355"/>
            <a:ext cx="7097134" cy="6899813"/>
            <a:chOff x="993553" y="2382355"/>
            <a:chExt cx="7097134" cy="6899813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3553" y="2382355"/>
              <a:ext cx="7097134" cy="6899813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155385" y="5348993"/>
            <a:ext cx="6744984" cy="3776781"/>
            <a:chOff x="1169627" y="4430523"/>
            <a:chExt cx="6744984" cy="466863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9627" y="4430523"/>
              <a:ext cx="6744984" cy="466863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-609600" y="3543300"/>
            <a:ext cx="1011747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통일을 </a:t>
            </a:r>
            <a:r>
              <a:rPr lang="ko-KR" altLang="en-US" sz="4800" b="1" dirty="0" err="1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했을때</a:t>
            </a:r>
            <a:endParaRPr lang="en-US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13" name="그룹 1013"/>
          <p:cNvGrpSpPr/>
          <p:nvPr/>
        </p:nvGrpSpPr>
        <p:grpSpPr>
          <a:xfrm>
            <a:off x="1166453" y="5321102"/>
            <a:ext cx="6751334" cy="2902617"/>
            <a:chOff x="1166453" y="5321102"/>
            <a:chExt cx="6751334" cy="2902617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166453" y="5321102"/>
              <a:ext cx="6751334" cy="82169"/>
              <a:chOff x="1166453" y="5321102"/>
              <a:chExt cx="6751334" cy="82169"/>
            </a:xfrm>
          </p:grpSpPr>
          <p:pic>
            <p:nvPicPr>
              <p:cNvPr id="41" name="Object 4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5321102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166453" y="6261251"/>
              <a:ext cx="6751334" cy="82169"/>
              <a:chOff x="1166453" y="6261251"/>
              <a:chExt cx="6751334" cy="82169"/>
            </a:xfrm>
          </p:grpSpPr>
          <p:pic>
            <p:nvPicPr>
              <p:cNvPr id="44" name="Object 43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626125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166453" y="7201401"/>
              <a:ext cx="6751334" cy="82169"/>
              <a:chOff x="1166453" y="7201401"/>
              <a:chExt cx="6751334" cy="82169"/>
            </a:xfrm>
          </p:grpSpPr>
          <p:pic>
            <p:nvPicPr>
              <p:cNvPr id="47" name="Object 4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7201401"/>
                <a:ext cx="6751334" cy="82169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166453" y="8141550"/>
              <a:ext cx="6751334" cy="82169"/>
              <a:chOff x="1166453" y="8141550"/>
              <a:chExt cx="6751334" cy="82169"/>
            </a:xfrm>
          </p:grpSpPr>
          <p:pic>
            <p:nvPicPr>
              <p:cNvPr id="50" name="Object 49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66453" y="8141550"/>
                <a:ext cx="6751334" cy="82169"/>
              </a:xfrm>
              <a:prstGeom prst="rect">
                <a:avLst/>
              </a:prstGeom>
            </p:spPr>
          </p:pic>
        </p:grpSp>
      </p:grpSp>
      <p:grpSp>
        <p:nvGrpSpPr>
          <p:cNvPr id="1018" name="그룹 1018"/>
          <p:cNvGrpSpPr/>
          <p:nvPr/>
        </p:nvGrpSpPr>
        <p:grpSpPr>
          <a:xfrm>
            <a:off x="-762000" y="672525"/>
            <a:ext cx="20000000" cy="660454"/>
            <a:chOff x="-762000" y="672525"/>
            <a:chExt cx="20000000" cy="660454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993553" y="1205130"/>
              <a:ext cx="16298609" cy="127849"/>
              <a:chOff x="993553" y="1205130"/>
              <a:chExt cx="16298609" cy="127849"/>
            </a:xfrm>
          </p:grpSpPr>
          <p:pic>
            <p:nvPicPr>
              <p:cNvPr id="56" name="Object 55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993553" y="1205130"/>
                <a:ext cx="16298609" cy="127849"/>
              </a:xfrm>
              <a:prstGeom prst="rect">
                <a:avLst/>
              </a:prstGeom>
            </p:spPr>
          </p:pic>
        </p:grpSp>
        <p:sp>
          <p:nvSpPr>
            <p:cNvPr id="58" name="Object 58"/>
            <p:cNvSpPr txBox="1"/>
            <p:nvPr/>
          </p:nvSpPr>
          <p:spPr>
            <a:xfrm>
              <a:off x="-762000" y="672525"/>
              <a:ext cx="20000000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3200" i="0" u="none" strike="noStrike" dirty="0">
                  <a:effectLst/>
                  <a:latin typeface="12롯데마트드림Bold" panose="02020603020101020101" pitchFamily="18" charset="-127"/>
                  <a:ea typeface="12롯데마트드림Bold" panose="02020603020101020101" pitchFamily="18" charset="-127"/>
                </a:rPr>
                <a:t>통계적 자료</a:t>
              </a:r>
              <a:endParaRPr 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-516619" y="5532275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7</a:t>
            </a:r>
            <a:r>
              <a:rPr lang="ko-KR" altLang="en-US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천</a:t>
            </a:r>
            <a:r>
              <a:rPr lang="en-US" altLang="ko-KR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</a:t>
            </a:r>
            <a:r>
              <a:rPr lang="ko-KR" altLang="en-US" sz="3600" b="0" i="0" dirty="0">
                <a:solidFill>
                  <a:schemeClr val="tx2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백만명</a:t>
            </a:r>
            <a:endParaRPr lang="en-US" sz="28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-516618" y="647242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20</a:t>
            </a:r>
            <a:r>
              <a:rPr lang="ko-KR" alt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위</a:t>
            </a:r>
            <a:endParaRPr lang="en-US" sz="36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-516618" y="7412573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2209</a:t>
            </a:r>
            <a:r>
              <a:rPr lang="ko-KR" altLang="en-US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만 </a:t>
            </a:r>
            <a:r>
              <a:rPr lang="en-US" altLang="ko-KR" sz="3600" dirty="0">
                <a:solidFill>
                  <a:schemeClr val="tx2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4128.5ha</a:t>
            </a:r>
            <a:endParaRPr lang="en-US" sz="3600" dirty="0">
              <a:solidFill>
                <a:schemeClr val="tx2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-516618" y="835343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육상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해상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항공</a:t>
            </a:r>
            <a:r>
              <a:rPr lang="en-US" altLang="ko-KR" sz="36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  </a:t>
            </a:r>
            <a:endParaRPr lang="en-US" altLang="ko-KR" sz="3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684897" y="5532275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5</a:t>
            </a:r>
            <a:r>
              <a:rPr lang="ko-KR" altLang="en-US" sz="3600" dirty="0" err="1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천만명</a:t>
            </a:r>
            <a:endParaRPr lang="en-US" sz="28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684897" y="6472424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28</a:t>
            </a:r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위</a:t>
            </a:r>
            <a:endParaRPr lang="en-US" sz="3600" dirty="0">
              <a:solidFill>
                <a:srgbClr val="D14B4B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684897" y="7412573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1,004</a:t>
            </a:r>
            <a:r>
              <a:rPr lang="ko-KR" altLang="en-US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만 </a:t>
            </a:r>
            <a:r>
              <a:rPr lang="en-US" altLang="ko-KR" sz="3600" b="1" i="0" dirty="0">
                <a:solidFill>
                  <a:srgbClr val="D14B4B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128.5㏊</a:t>
            </a:r>
            <a:endParaRPr lang="en-US" altLang="ko-KR" sz="3600" dirty="0">
              <a:solidFill>
                <a:srgbClr val="D14B4B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684897" y="8355339"/>
            <a:ext cx="101174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해상</a:t>
            </a:r>
            <a:r>
              <a:rPr lang="en-US" altLang="ko-KR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, </a:t>
            </a:r>
            <a:r>
              <a:rPr lang="ko-KR" altLang="en-US" sz="3600" dirty="0">
                <a:solidFill>
                  <a:srgbClr val="D14B4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항공</a:t>
            </a:r>
            <a:endParaRPr lang="en-US" altLang="ko-KR" sz="3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36029" y="5563053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인구수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536029" y="7443351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국토 면적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36029" y="8137990"/>
            <a:ext cx="3213656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수출</a:t>
            </a:r>
            <a:r>
              <a:rPr lang="en-US" altLang="ko-KR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/</a:t>
            </a:r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입 </a:t>
            </a:r>
            <a:endParaRPr lang="en-US" altLang="ko-KR" sz="3200" dirty="0">
              <a:solidFill>
                <a:srgbClr val="595959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M_U" pitchFamily="34" charset="0"/>
            </a:endParaRPr>
          </a:p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운송 방법</a:t>
            </a:r>
            <a:endParaRPr lang="en-US" altLang="ko-KR" sz="32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26" name="그룹 1026"/>
          <p:cNvGrpSpPr/>
          <p:nvPr/>
        </p:nvGrpSpPr>
        <p:grpSpPr>
          <a:xfrm>
            <a:off x="8090686" y="5321102"/>
            <a:ext cx="2104341" cy="82169"/>
            <a:chOff x="8090686" y="5321102"/>
            <a:chExt cx="2104341" cy="82169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5321102"/>
              <a:ext cx="2104341" cy="82169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8090686" y="6261251"/>
            <a:ext cx="2104341" cy="82169"/>
            <a:chOff x="8090686" y="6261251"/>
            <a:chExt cx="2104341" cy="82169"/>
          </a:xfrm>
        </p:grpSpPr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6261251"/>
              <a:ext cx="2104341" cy="82169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8090686" y="7201401"/>
            <a:ext cx="2104341" cy="82169"/>
            <a:chOff x="8090686" y="7201401"/>
            <a:chExt cx="2104341" cy="82169"/>
          </a:xfrm>
        </p:grpSpPr>
        <p:pic>
          <p:nvPicPr>
            <p:cNvPr id="102" name="Object 10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7201401"/>
              <a:ext cx="2104341" cy="82169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8090686" y="8141550"/>
            <a:ext cx="2104341" cy="82169"/>
            <a:chOff x="8090686" y="8141550"/>
            <a:chExt cx="2104341" cy="82169"/>
          </a:xfrm>
        </p:grpSpPr>
        <p:pic>
          <p:nvPicPr>
            <p:cNvPr id="105" name="Object 10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0686" y="8141550"/>
              <a:ext cx="2104341" cy="82169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8071638" y="3333916"/>
            <a:ext cx="2123389" cy="1125178"/>
            <a:chOff x="8071638" y="3333916"/>
            <a:chExt cx="2123389" cy="1125178"/>
          </a:xfrm>
        </p:grpSpPr>
        <p:pic>
          <p:nvPicPr>
            <p:cNvPr id="108" name="Object 10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1638" y="3333916"/>
              <a:ext cx="2123389" cy="1125178"/>
            </a:xfrm>
            <a:prstGeom prst="rect">
              <a:avLst/>
            </a:prstGeom>
          </p:spPr>
        </p:pic>
      </p:grpSp>
      <p:sp>
        <p:nvSpPr>
          <p:cNvPr id="110" name="Object 110"/>
          <p:cNvSpPr txBox="1"/>
          <p:nvPr/>
        </p:nvSpPr>
        <p:spPr>
          <a:xfrm>
            <a:off x="7536029" y="3283158"/>
            <a:ext cx="3213655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kern="0" spc="-100" dirty="0">
                <a:solidFill>
                  <a:srgbClr val="FFFFF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Roboto Thin" pitchFamily="34" charset="0"/>
              </a:rPr>
              <a:t>VS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86" name="Object 70">
            <a:extLst>
              <a:ext uri="{FF2B5EF4-FFF2-40B4-BE49-F238E27FC236}">
                <a16:creationId xmlns:a16="http://schemas.microsoft.com/office/drawing/2014/main" id="{93016E10-E9E5-09A7-9177-87CABFABF4F2}"/>
              </a:ext>
            </a:extLst>
          </p:cNvPr>
          <p:cNvSpPr txBox="1"/>
          <p:nvPr/>
        </p:nvSpPr>
        <p:spPr>
          <a:xfrm>
            <a:off x="7530544" y="6502474"/>
            <a:ext cx="321365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200" dirty="0">
                <a:solidFill>
                  <a:srgbClr val="595959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M_U" pitchFamily="34" charset="0"/>
              </a:rPr>
              <a:t>인구수 순위</a:t>
            </a:r>
            <a:endParaRPr lang="en-US" sz="2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93553" y="2096640"/>
            <a:ext cx="7097134" cy="7185527"/>
            <a:chOff x="993553" y="2096640"/>
            <a:chExt cx="7097134" cy="718552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553" y="2096640"/>
              <a:ext cx="7097134" cy="718552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756855" y="2096640"/>
            <a:ext cx="7097134" cy="7185527"/>
            <a:chOff x="10195028" y="2096640"/>
            <a:chExt cx="7097134" cy="71855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95028" y="2096640"/>
              <a:ext cx="7097134" cy="71855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-503661" y="5408079"/>
            <a:ext cx="10091565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통일을 하는 것에 대해 </a:t>
            </a:r>
            <a:endParaRPr lang="en-US" altLang="ko-KR" sz="3500" dirty="0">
              <a:solidFill>
                <a:srgbClr val="003478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algn="ctr"/>
            <a:r>
              <a:rPr lang="ko-KR" altLang="en-US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찬성한다</a:t>
            </a:r>
            <a:r>
              <a:rPr lang="en-US" altLang="ko-KR" sz="3500" dirty="0">
                <a:solidFill>
                  <a:srgbClr val="003478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46724" y="4838700"/>
            <a:ext cx="10117476" cy="22775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5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문화적 교류가 늘어남</a:t>
            </a:r>
            <a:endParaRPr lang="en-US" altLang="ko-KR" sz="35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b="0" i="0" dirty="0">
                <a:solidFill>
                  <a:srgbClr val="D34E4E"/>
                </a:solidFill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저출산 고령화 문제도 해결</a:t>
            </a:r>
            <a:endParaRPr lang="en-US" altLang="ko-KR" sz="3600" b="0" i="0" dirty="0">
              <a:solidFill>
                <a:srgbClr val="D34E4E"/>
              </a:solidFill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북한의 많은 자원을 이용한 개발</a:t>
            </a:r>
            <a:endParaRPr lang="en-US" altLang="ko-KR" sz="36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D34E4E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B_U" pitchFamily="34" charset="0"/>
              </a:rPr>
              <a:t>경제의 성장</a:t>
            </a:r>
            <a:endParaRPr lang="en-US" sz="3500" dirty="0">
              <a:solidFill>
                <a:srgbClr val="D34E4E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  <a:cs typeface="THELuxGoB_U" pitchFamily="34" charset="0"/>
            </a:endParaRPr>
          </a:p>
        </p:txBody>
      </p:sp>
      <p:grpSp>
        <p:nvGrpSpPr>
          <p:cNvPr id="1003" name="그룹 1003"/>
          <p:cNvGrpSpPr/>
          <p:nvPr/>
        </p:nvGrpSpPr>
        <p:grpSpPr>
          <a:xfrm>
            <a:off x="-857142" y="643111"/>
            <a:ext cx="19999996" cy="689868"/>
            <a:chOff x="-857142" y="643111"/>
            <a:chExt cx="19999996" cy="68986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553" y="1205130"/>
              <a:ext cx="16298609" cy="127849"/>
            </a:xfrm>
            <a:prstGeom prst="rect">
              <a:avLst/>
            </a:prstGeom>
          </p:spPr>
        </p:pic>
        <p:sp>
          <p:nvSpPr>
            <p:cNvPr id="15" name="Object 15"/>
            <p:cNvSpPr txBox="1"/>
            <p:nvPr/>
          </p:nvSpPr>
          <p:spPr>
            <a:xfrm>
              <a:off x="-857142" y="643111"/>
              <a:ext cx="19999996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3200" dirty="0">
                  <a:solidFill>
                    <a:srgbClr val="000000"/>
                  </a:solidFill>
                  <a:latin typeface="12롯데마트드림Bold" panose="02020603020101020101" pitchFamily="18" charset="-127"/>
                  <a:ea typeface="12롯데마트드림Bold" panose="02020603020101020101" pitchFamily="18" charset="-127"/>
                  <a:cs typeface="THELuxGoEB_U" pitchFamily="34" charset="0"/>
                </a:rPr>
                <a:t>이에 대한 나의 의견</a:t>
              </a:r>
              <a:endParaRPr 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46724" y="2530614"/>
            <a:ext cx="1011747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kern="0" spc="-100" dirty="0">
                <a:solidFill>
                  <a:srgbClr val="0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THELuxGoL_U" pitchFamily="34" charset="0"/>
              </a:rPr>
              <a:t>의견에 대한 근거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-516618" y="2454414"/>
            <a:ext cx="1011747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4000" kern="0" spc="-100" dirty="0">
                <a:solidFill>
                  <a:srgbClr val="00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나의 주장</a:t>
            </a:r>
            <a:endParaRPr 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1009" name="그룹 1009"/>
          <p:cNvGrpSpPr/>
          <p:nvPr/>
        </p:nvGrpSpPr>
        <p:grpSpPr>
          <a:xfrm>
            <a:off x="1377149" y="3156331"/>
            <a:ext cx="6329941" cy="82169"/>
            <a:chOff x="1377149" y="5970129"/>
            <a:chExt cx="6329941" cy="82169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7149" y="5970129"/>
              <a:ext cx="6329941" cy="8216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0140451" y="3243591"/>
            <a:ext cx="6329941" cy="82169"/>
            <a:chOff x="10578624" y="5970129"/>
            <a:chExt cx="6329941" cy="82169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8624" y="5970129"/>
              <a:ext cx="6329941" cy="82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그룹 1003"/>
          <p:cNvGrpSpPr/>
          <p:nvPr/>
        </p:nvGrpSpPr>
        <p:grpSpPr>
          <a:xfrm>
            <a:off x="1748342" y="4861093"/>
            <a:ext cx="6408801" cy="4423395"/>
            <a:chOff x="1748342" y="4861093"/>
            <a:chExt cx="6408801" cy="442339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8342" y="4861093"/>
              <a:ext cx="6408801" cy="442339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93552" y="9081924"/>
            <a:ext cx="16328641" cy="202564"/>
            <a:chOff x="993552" y="9081924"/>
            <a:chExt cx="16328641" cy="20256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552" y="9081924"/>
              <a:ext cx="16328641" cy="202564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23CFB8A-382E-620C-761C-CB7163E44F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3813238"/>
            <a:ext cx="3733800" cy="526868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-4577229" y="876300"/>
            <a:ext cx="27463376" cy="7466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0" dirty="0">
                <a:solidFill>
                  <a:srgbClr val="FFFFFF"/>
                </a:solidFill>
                <a:latin typeface="Sedgwick Ave" pitchFamily="34" charset="0"/>
                <a:cs typeface="Sedgwick Ave" pitchFamily="34" charset="0"/>
              </a:rPr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91</Words>
  <Application>Microsoft Office PowerPoint</Application>
  <PresentationFormat>사용자 지정</PresentationFormat>
  <Paragraphs>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12롯데마트드림Bold</vt:lpstr>
      <vt:lpstr>Sedgwick Ave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didtjr5080</cp:lastModifiedBy>
  <cp:revision>12</cp:revision>
  <dcterms:created xsi:type="dcterms:W3CDTF">2022-05-15T16:53:59Z</dcterms:created>
  <dcterms:modified xsi:type="dcterms:W3CDTF">2022-05-15T15:18:31Z</dcterms:modified>
</cp:coreProperties>
</file>