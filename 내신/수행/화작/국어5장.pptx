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3" r:id="rId6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4E4E"/>
    <a:srgbClr val="E8A5A5"/>
    <a:srgbClr val="D14B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33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552" y="9120019"/>
            <a:ext cx="910149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3</a:t>
            </a:r>
            <a:r>
              <a:rPr lang="ko-KR" altLang="en-US" dirty="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학년 </a:t>
            </a:r>
            <a:r>
              <a:rPr lang="en-US" altLang="ko-KR" dirty="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4</a:t>
            </a:r>
            <a:r>
              <a:rPr lang="ko-KR" altLang="en-US" dirty="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반 </a:t>
            </a:r>
            <a:r>
              <a:rPr lang="en-US" altLang="ko-KR" dirty="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32</a:t>
            </a:r>
            <a:r>
              <a:rPr lang="ko-KR" altLang="en-US" dirty="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번 양석</a:t>
            </a:r>
            <a:endParaRPr lang="en-US" dirty="0"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553" y="1222024"/>
            <a:ext cx="22269581" cy="26161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8200" dirty="0">
                <a:solidFill>
                  <a:srgbClr val="D34E4E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R_U" pitchFamily="34" charset="0"/>
              </a:rPr>
              <a:t>우리는 왜 통일을 </a:t>
            </a:r>
            <a:endParaRPr lang="en-US" altLang="ko-KR" sz="8200" dirty="0">
              <a:solidFill>
                <a:srgbClr val="D34E4E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  <a:cs typeface="THELuxGoR_U" pitchFamily="34" charset="0"/>
            </a:endParaRPr>
          </a:p>
          <a:p>
            <a:r>
              <a:rPr lang="ko-KR" altLang="en-US" sz="8200" dirty="0">
                <a:solidFill>
                  <a:srgbClr val="D34E4E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R_U" pitchFamily="34" charset="0"/>
              </a:rPr>
              <a:t>해야만 할까</a:t>
            </a:r>
            <a:r>
              <a:rPr lang="en-US" sz="8200" dirty="0">
                <a:solidFill>
                  <a:srgbClr val="D34E4E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R_U" pitchFamily="34" charset="0"/>
              </a:rPr>
              <a:t>?</a:t>
            </a:r>
            <a:endParaRPr 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552" y="3878116"/>
            <a:ext cx="22269581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3500" dirty="0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B_U" pitchFamily="34" charset="0"/>
              </a:rPr>
              <a:t>통일을 </a:t>
            </a:r>
            <a:r>
              <a:rPr lang="ko-KR" altLang="en-US" sz="3500" dirty="0" err="1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B_U" pitchFamily="34" charset="0"/>
              </a:rPr>
              <a:t>했을때의</a:t>
            </a:r>
            <a:r>
              <a:rPr lang="ko-KR" altLang="en-US" sz="3500" dirty="0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B_U" pitchFamily="34" charset="0"/>
              </a:rPr>
              <a:t> 장점과 단점</a:t>
            </a:r>
            <a:endParaRPr 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grpSp>
        <p:nvGrpSpPr>
          <p:cNvPr id="1002" name="그룹 1002"/>
          <p:cNvGrpSpPr/>
          <p:nvPr/>
        </p:nvGrpSpPr>
        <p:grpSpPr>
          <a:xfrm>
            <a:off x="993552" y="7071429"/>
            <a:ext cx="16328641" cy="251155"/>
            <a:chOff x="993552" y="7071429"/>
            <a:chExt cx="16328641" cy="251155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552" y="7071429"/>
              <a:ext cx="16328641" cy="251155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55E9E4FA-F02E-B067-14BC-4F43E9903F2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1133417"/>
            <a:ext cx="4206413" cy="5935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914612" y="4426393"/>
            <a:ext cx="2456491" cy="4699381"/>
            <a:chOff x="7914612" y="4426393"/>
            <a:chExt cx="2456491" cy="469938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4612" y="4426393"/>
              <a:ext cx="2456491" cy="469938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683333" y="2382355"/>
            <a:ext cx="1023389" cy="2044038"/>
            <a:chOff x="9683333" y="2382355"/>
            <a:chExt cx="1023389" cy="204403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83333" y="2382355"/>
              <a:ext cx="1023389" cy="204403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583754" y="2382355"/>
            <a:ext cx="1023389" cy="2044038"/>
            <a:chOff x="7583754" y="2382355"/>
            <a:chExt cx="1023389" cy="2044038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3754" y="2382355"/>
              <a:ext cx="1023389" cy="204403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0195028" y="2382355"/>
            <a:ext cx="7097134" cy="6899813"/>
            <a:chOff x="10195028" y="2382355"/>
            <a:chExt cx="7097134" cy="6899813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5028" y="2382355"/>
              <a:ext cx="7097134" cy="689981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0371103" y="5351670"/>
            <a:ext cx="6744984" cy="3776781"/>
            <a:chOff x="10371103" y="4430523"/>
            <a:chExt cx="6744984" cy="4668630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71103" y="4430523"/>
              <a:ext cx="6744984" cy="466863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610600" y="3543300"/>
            <a:ext cx="10117476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4800" b="1" dirty="0">
                <a:solidFill>
                  <a:srgbClr val="FFFFFF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통일을 하지 </a:t>
            </a:r>
            <a:r>
              <a:rPr lang="ko-KR" altLang="en-US" sz="4800" b="1" dirty="0" err="1">
                <a:solidFill>
                  <a:srgbClr val="FFFFFF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않았을때</a:t>
            </a:r>
            <a:endParaRPr lang="en-US" sz="32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grpSp>
        <p:nvGrpSpPr>
          <p:cNvPr id="1006" name="그룹 1006"/>
          <p:cNvGrpSpPr/>
          <p:nvPr/>
        </p:nvGrpSpPr>
        <p:grpSpPr>
          <a:xfrm>
            <a:off x="10367928" y="5321102"/>
            <a:ext cx="6751334" cy="2902617"/>
            <a:chOff x="10367928" y="5321102"/>
            <a:chExt cx="6751334" cy="2902617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0367928" y="5321102"/>
              <a:ext cx="6751334" cy="82169"/>
              <a:chOff x="10367928" y="5321102"/>
              <a:chExt cx="6751334" cy="82169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367928" y="5321102"/>
                <a:ext cx="6751334" cy="82169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10367928" y="6261251"/>
              <a:ext cx="6751334" cy="82169"/>
              <a:chOff x="10367928" y="6261251"/>
              <a:chExt cx="6751334" cy="82169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367928" y="6261251"/>
                <a:ext cx="6751334" cy="82169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10367928" y="7201401"/>
              <a:ext cx="6751334" cy="82169"/>
              <a:chOff x="10367928" y="7201401"/>
              <a:chExt cx="6751334" cy="82169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367928" y="7201401"/>
                <a:ext cx="6751334" cy="82169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10367928" y="8141550"/>
              <a:ext cx="6751334" cy="82169"/>
              <a:chOff x="10367928" y="8141550"/>
              <a:chExt cx="6751334" cy="82169"/>
            </a:xfrm>
          </p:grpSpPr>
          <p:pic>
            <p:nvPicPr>
              <p:cNvPr id="29" name="Object 2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367928" y="8141550"/>
                <a:ext cx="6751334" cy="82169"/>
              </a:xfrm>
              <a:prstGeom prst="rect">
                <a:avLst/>
              </a:prstGeom>
            </p:spPr>
          </p:pic>
        </p:grpSp>
      </p:grpSp>
      <p:grpSp>
        <p:nvGrpSpPr>
          <p:cNvPr id="1011" name="그룹 1011"/>
          <p:cNvGrpSpPr/>
          <p:nvPr/>
        </p:nvGrpSpPr>
        <p:grpSpPr>
          <a:xfrm>
            <a:off x="993553" y="2382355"/>
            <a:ext cx="7097134" cy="6899813"/>
            <a:chOff x="993553" y="2382355"/>
            <a:chExt cx="7097134" cy="6899813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3553" y="2382355"/>
              <a:ext cx="7097134" cy="6899813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155385" y="5348993"/>
            <a:ext cx="6744984" cy="3776781"/>
            <a:chOff x="1169627" y="4430523"/>
            <a:chExt cx="6744984" cy="4668630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9627" y="4430523"/>
              <a:ext cx="6744984" cy="466863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-609600" y="3543300"/>
            <a:ext cx="10117476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4800" b="1" dirty="0">
                <a:solidFill>
                  <a:srgbClr val="FFFFFF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통일을 </a:t>
            </a:r>
            <a:r>
              <a:rPr lang="ko-KR" altLang="en-US" sz="4800" b="1" dirty="0" err="1">
                <a:solidFill>
                  <a:srgbClr val="FFFFFF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했을때</a:t>
            </a:r>
            <a:endParaRPr lang="en-US" sz="32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grpSp>
        <p:nvGrpSpPr>
          <p:cNvPr id="1013" name="그룹 1013"/>
          <p:cNvGrpSpPr/>
          <p:nvPr/>
        </p:nvGrpSpPr>
        <p:grpSpPr>
          <a:xfrm>
            <a:off x="1166453" y="5321102"/>
            <a:ext cx="6751334" cy="2902617"/>
            <a:chOff x="1166453" y="5321102"/>
            <a:chExt cx="6751334" cy="2902617"/>
          </a:xfrm>
        </p:grpSpPr>
        <p:grpSp>
          <p:nvGrpSpPr>
            <p:cNvPr id="1014" name="그룹 1014"/>
            <p:cNvGrpSpPr/>
            <p:nvPr/>
          </p:nvGrpSpPr>
          <p:grpSpPr>
            <a:xfrm>
              <a:off x="1166453" y="5321102"/>
              <a:ext cx="6751334" cy="82169"/>
              <a:chOff x="1166453" y="5321102"/>
              <a:chExt cx="6751334" cy="82169"/>
            </a:xfrm>
          </p:grpSpPr>
          <p:pic>
            <p:nvPicPr>
              <p:cNvPr id="41" name="Object 40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66453" y="5321102"/>
                <a:ext cx="6751334" cy="82169"/>
              </a:xfrm>
              <a:prstGeom prst="rect">
                <a:avLst/>
              </a:prstGeom>
            </p:spPr>
          </p:pic>
        </p:grpSp>
        <p:grpSp>
          <p:nvGrpSpPr>
            <p:cNvPr id="1015" name="그룹 1015"/>
            <p:cNvGrpSpPr/>
            <p:nvPr/>
          </p:nvGrpSpPr>
          <p:grpSpPr>
            <a:xfrm>
              <a:off x="1166453" y="6261251"/>
              <a:ext cx="6751334" cy="82169"/>
              <a:chOff x="1166453" y="6261251"/>
              <a:chExt cx="6751334" cy="82169"/>
            </a:xfrm>
          </p:grpSpPr>
          <p:pic>
            <p:nvPicPr>
              <p:cNvPr id="44" name="Object 43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66453" y="6261251"/>
                <a:ext cx="6751334" cy="82169"/>
              </a:xfrm>
              <a:prstGeom prst="rect">
                <a:avLst/>
              </a:prstGeom>
            </p:spPr>
          </p:pic>
        </p:grpSp>
        <p:grpSp>
          <p:nvGrpSpPr>
            <p:cNvPr id="1016" name="그룹 1016"/>
            <p:cNvGrpSpPr/>
            <p:nvPr/>
          </p:nvGrpSpPr>
          <p:grpSpPr>
            <a:xfrm>
              <a:off x="1166453" y="7201401"/>
              <a:ext cx="6751334" cy="82169"/>
              <a:chOff x="1166453" y="7201401"/>
              <a:chExt cx="6751334" cy="82169"/>
            </a:xfrm>
          </p:grpSpPr>
          <p:pic>
            <p:nvPicPr>
              <p:cNvPr id="47" name="Object 46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66453" y="7201401"/>
                <a:ext cx="6751334" cy="82169"/>
              </a:xfrm>
              <a:prstGeom prst="rect">
                <a:avLst/>
              </a:prstGeom>
            </p:spPr>
          </p:pic>
        </p:grpSp>
        <p:grpSp>
          <p:nvGrpSpPr>
            <p:cNvPr id="1017" name="그룹 1017"/>
            <p:cNvGrpSpPr/>
            <p:nvPr/>
          </p:nvGrpSpPr>
          <p:grpSpPr>
            <a:xfrm>
              <a:off x="1166453" y="8141550"/>
              <a:ext cx="6751334" cy="82169"/>
              <a:chOff x="1166453" y="8141550"/>
              <a:chExt cx="6751334" cy="82169"/>
            </a:xfrm>
          </p:grpSpPr>
          <p:pic>
            <p:nvPicPr>
              <p:cNvPr id="50" name="Object 49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66453" y="8141550"/>
                <a:ext cx="6751334" cy="82169"/>
              </a:xfrm>
              <a:prstGeom prst="rect">
                <a:avLst/>
              </a:prstGeom>
            </p:spPr>
          </p:pic>
        </p:grpSp>
      </p:grpSp>
      <p:grpSp>
        <p:nvGrpSpPr>
          <p:cNvPr id="1018" name="그룹 1018"/>
          <p:cNvGrpSpPr/>
          <p:nvPr/>
        </p:nvGrpSpPr>
        <p:grpSpPr>
          <a:xfrm>
            <a:off x="-762000" y="672525"/>
            <a:ext cx="20000000" cy="660454"/>
            <a:chOff x="-762000" y="672525"/>
            <a:chExt cx="20000000" cy="660454"/>
          </a:xfrm>
        </p:grpSpPr>
        <p:grpSp>
          <p:nvGrpSpPr>
            <p:cNvPr id="1019" name="그룹 1019"/>
            <p:cNvGrpSpPr/>
            <p:nvPr/>
          </p:nvGrpSpPr>
          <p:grpSpPr>
            <a:xfrm>
              <a:off x="993553" y="1205130"/>
              <a:ext cx="16298609" cy="127849"/>
              <a:chOff x="993553" y="1205130"/>
              <a:chExt cx="16298609" cy="127849"/>
            </a:xfrm>
          </p:grpSpPr>
          <p:pic>
            <p:nvPicPr>
              <p:cNvPr id="56" name="Object 55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993553" y="1205130"/>
                <a:ext cx="16298609" cy="127849"/>
              </a:xfrm>
              <a:prstGeom prst="rect">
                <a:avLst/>
              </a:prstGeom>
            </p:spPr>
          </p:pic>
        </p:grpSp>
        <p:sp>
          <p:nvSpPr>
            <p:cNvPr id="58" name="Object 58"/>
            <p:cNvSpPr txBox="1"/>
            <p:nvPr/>
          </p:nvSpPr>
          <p:spPr>
            <a:xfrm>
              <a:off x="-762000" y="672525"/>
              <a:ext cx="20000000" cy="5847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ko-KR" altLang="en-US" sz="3200" i="0" u="none" strike="noStrike" dirty="0">
                  <a:effectLst/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통계적 자료</a:t>
              </a:r>
              <a:endParaRPr 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-516619" y="5532275"/>
            <a:ext cx="101174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0" i="0" dirty="0">
                <a:solidFill>
                  <a:schemeClr val="tx2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7</a:t>
            </a:r>
            <a:r>
              <a:rPr lang="ko-KR" altLang="en-US" sz="3600" b="0" i="0" dirty="0">
                <a:solidFill>
                  <a:schemeClr val="tx2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천</a:t>
            </a:r>
            <a:r>
              <a:rPr lang="en-US" altLang="ko-KR" sz="3600" b="0" i="0" dirty="0">
                <a:solidFill>
                  <a:schemeClr val="tx2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</a:t>
            </a:r>
            <a:r>
              <a:rPr lang="ko-KR" altLang="en-US" sz="3600" b="0" i="0" dirty="0">
                <a:solidFill>
                  <a:schemeClr val="tx2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백만명</a:t>
            </a:r>
            <a:endParaRPr lang="en-US" sz="2800" dirty="0">
              <a:solidFill>
                <a:schemeClr val="tx2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-516618" y="6472424"/>
            <a:ext cx="101174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20</a:t>
            </a:r>
            <a:r>
              <a:rPr lang="ko-KR" altLang="en-US" sz="3600" dirty="0">
                <a:solidFill>
                  <a:schemeClr val="tx2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위</a:t>
            </a:r>
            <a:endParaRPr lang="en-US" sz="3600" dirty="0">
              <a:solidFill>
                <a:schemeClr val="tx2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-516618" y="7412573"/>
            <a:ext cx="101174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2209</a:t>
            </a:r>
            <a:r>
              <a:rPr lang="ko-KR" altLang="en-US" sz="3600" dirty="0">
                <a:solidFill>
                  <a:schemeClr val="tx2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만 </a:t>
            </a:r>
            <a:r>
              <a:rPr lang="en-US" altLang="ko-KR" sz="3600" dirty="0">
                <a:solidFill>
                  <a:schemeClr val="tx2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4128.5ha</a:t>
            </a:r>
            <a:endParaRPr lang="en-US" sz="3600" dirty="0">
              <a:solidFill>
                <a:schemeClr val="tx2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-516618" y="8353434"/>
            <a:ext cx="101174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6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육상</a:t>
            </a:r>
            <a:r>
              <a:rPr lang="en-US" altLang="ko-KR" sz="36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, </a:t>
            </a:r>
            <a:r>
              <a:rPr lang="ko-KR" altLang="en-US" sz="36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해상</a:t>
            </a:r>
            <a:r>
              <a:rPr lang="en-US" altLang="ko-KR" sz="36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, </a:t>
            </a:r>
            <a:r>
              <a:rPr lang="ko-KR" altLang="en-US" sz="36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항공</a:t>
            </a:r>
            <a:r>
              <a:rPr lang="en-US" altLang="ko-KR" sz="36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  </a:t>
            </a:r>
            <a:endParaRPr lang="en-US" altLang="ko-KR" sz="3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684897" y="5532275"/>
            <a:ext cx="101174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5</a:t>
            </a:r>
            <a:r>
              <a:rPr lang="ko-KR" altLang="en-US" sz="3600" dirty="0" err="1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천만명</a:t>
            </a:r>
            <a:endParaRPr lang="en-US" sz="28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684897" y="6472424"/>
            <a:ext cx="101174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28</a:t>
            </a:r>
            <a:r>
              <a:rPr lang="ko-KR" altLang="en-US" sz="3600" dirty="0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위</a:t>
            </a:r>
            <a:endParaRPr lang="en-US" sz="3600" dirty="0">
              <a:solidFill>
                <a:srgbClr val="D14B4B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684897" y="7412573"/>
            <a:ext cx="101174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i="0" dirty="0">
                <a:solidFill>
                  <a:srgbClr val="D14B4B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1,004</a:t>
            </a:r>
            <a:r>
              <a:rPr lang="ko-KR" altLang="en-US" sz="3600" b="1" i="0" dirty="0">
                <a:solidFill>
                  <a:srgbClr val="D14B4B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만 </a:t>
            </a:r>
            <a:r>
              <a:rPr lang="en-US" altLang="ko-KR" sz="3600" b="1" i="0" dirty="0">
                <a:solidFill>
                  <a:srgbClr val="D14B4B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128.5㏊</a:t>
            </a:r>
            <a:endParaRPr lang="en-US" altLang="ko-KR" sz="3600" dirty="0">
              <a:solidFill>
                <a:srgbClr val="D14B4B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684897" y="8355339"/>
            <a:ext cx="101174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600" dirty="0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해상</a:t>
            </a:r>
            <a:r>
              <a:rPr lang="en-US" altLang="ko-KR" sz="3600" dirty="0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, </a:t>
            </a:r>
            <a:r>
              <a:rPr lang="ko-KR" altLang="en-US" sz="3600" dirty="0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항공</a:t>
            </a:r>
            <a:endParaRPr lang="en-US" altLang="ko-KR" sz="3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536029" y="5563053"/>
            <a:ext cx="321365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200" dirty="0">
                <a:solidFill>
                  <a:srgbClr val="595959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인구수</a:t>
            </a:r>
            <a:endParaRPr lang="en-US" sz="24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536029" y="7443351"/>
            <a:ext cx="321365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200" dirty="0">
                <a:solidFill>
                  <a:srgbClr val="595959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국토 면적</a:t>
            </a:r>
            <a:endParaRPr lang="en-US" sz="24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536029" y="8137990"/>
            <a:ext cx="3213656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200" dirty="0">
                <a:solidFill>
                  <a:srgbClr val="595959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수출</a:t>
            </a:r>
            <a:r>
              <a:rPr lang="en-US" altLang="ko-KR" sz="3200" dirty="0">
                <a:solidFill>
                  <a:srgbClr val="595959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/</a:t>
            </a:r>
            <a:r>
              <a:rPr lang="ko-KR" altLang="en-US" sz="3200" dirty="0">
                <a:solidFill>
                  <a:srgbClr val="595959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입 </a:t>
            </a:r>
            <a:endParaRPr lang="en-US" altLang="ko-KR" sz="3200" dirty="0">
              <a:solidFill>
                <a:srgbClr val="595959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  <a:cs typeface="THELuxGoM_U" pitchFamily="34" charset="0"/>
            </a:endParaRPr>
          </a:p>
          <a:p>
            <a:pPr algn="ctr"/>
            <a:r>
              <a:rPr lang="ko-KR" altLang="en-US" sz="3200" dirty="0">
                <a:solidFill>
                  <a:srgbClr val="595959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운송 방법</a:t>
            </a:r>
            <a:endParaRPr lang="en-US" altLang="ko-KR" sz="32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grpSp>
        <p:nvGrpSpPr>
          <p:cNvPr id="1026" name="그룹 1026"/>
          <p:cNvGrpSpPr/>
          <p:nvPr/>
        </p:nvGrpSpPr>
        <p:grpSpPr>
          <a:xfrm>
            <a:off x="8090686" y="5321102"/>
            <a:ext cx="2104341" cy="82169"/>
            <a:chOff x="8090686" y="5321102"/>
            <a:chExt cx="2104341" cy="82169"/>
          </a:xfrm>
        </p:grpSpPr>
        <p:pic>
          <p:nvPicPr>
            <p:cNvPr id="96" name="Object 9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90686" y="5321102"/>
              <a:ext cx="2104341" cy="82169"/>
            </a:xfrm>
            <a:prstGeom prst="rect">
              <a:avLst/>
            </a:prstGeom>
          </p:spPr>
        </p:pic>
      </p:grpSp>
      <p:grpSp>
        <p:nvGrpSpPr>
          <p:cNvPr id="1027" name="그룹 1027"/>
          <p:cNvGrpSpPr/>
          <p:nvPr/>
        </p:nvGrpSpPr>
        <p:grpSpPr>
          <a:xfrm>
            <a:off x="8090686" y="6261251"/>
            <a:ext cx="2104341" cy="82169"/>
            <a:chOff x="8090686" y="6261251"/>
            <a:chExt cx="2104341" cy="82169"/>
          </a:xfrm>
        </p:grpSpPr>
        <p:pic>
          <p:nvPicPr>
            <p:cNvPr id="99" name="Object 98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90686" y="6261251"/>
              <a:ext cx="2104341" cy="82169"/>
            </a:xfrm>
            <a:prstGeom prst="rect">
              <a:avLst/>
            </a:prstGeom>
          </p:spPr>
        </p:pic>
      </p:grpSp>
      <p:grpSp>
        <p:nvGrpSpPr>
          <p:cNvPr id="1028" name="그룹 1028"/>
          <p:cNvGrpSpPr/>
          <p:nvPr/>
        </p:nvGrpSpPr>
        <p:grpSpPr>
          <a:xfrm>
            <a:off x="8090686" y="7201401"/>
            <a:ext cx="2104341" cy="82169"/>
            <a:chOff x="8090686" y="7201401"/>
            <a:chExt cx="2104341" cy="82169"/>
          </a:xfrm>
        </p:grpSpPr>
        <p:pic>
          <p:nvPicPr>
            <p:cNvPr id="102" name="Object 10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90686" y="7201401"/>
              <a:ext cx="2104341" cy="82169"/>
            </a:xfrm>
            <a:prstGeom prst="rect">
              <a:avLst/>
            </a:prstGeom>
          </p:spPr>
        </p:pic>
      </p:grpSp>
      <p:grpSp>
        <p:nvGrpSpPr>
          <p:cNvPr id="1029" name="그룹 1029"/>
          <p:cNvGrpSpPr/>
          <p:nvPr/>
        </p:nvGrpSpPr>
        <p:grpSpPr>
          <a:xfrm>
            <a:off x="8090686" y="8141550"/>
            <a:ext cx="2104341" cy="82169"/>
            <a:chOff x="8090686" y="8141550"/>
            <a:chExt cx="2104341" cy="82169"/>
          </a:xfrm>
        </p:grpSpPr>
        <p:pic>
          <p:nvPicPr>
            <p:cNvPr id="105" name="Object 104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90686" y="8141550"/>
              <a:ext cx="2104341" cy="82169"/>
            </a:xfrm>
            <a:prstGeom prst="rect">
              <a:avLst/>
            </a:prstGeom>
          </p:spPr>
        </p:pic>
      </p:grpSp>
      <p:grpSp>
        <p:nvGrpSpPr>
          <p:cNvPr id="1030" name="그룹 1030"/>
          <p:cNvGrpSpPr/>
          <p:nvPr/>
        </p:nvGrpSpPr>
        <p:grpSpPr>
          <a:xfrm>
            <a:off x="8071638" y="3333916"/>
            <a:ext cx="2123389" cy="1125178"/>
            <a:chOff x="8071638" y="3333916"/>
            <a:chExt cx="2123389" cy="1125178"/>
          </a:xfrm>
        </p:grpSpPr>
        <p:pic>
          <p:nvPicPr>
            <p:cNvPr id="108" name="Object 107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71638" y="3333916"/>
              <a:ext cx="2123389" cy="1125178"/>
            </a:xfrm>
            <a:prstGeom prst="rect">
              <a:avLst/>
            </a:prstGeom>
          </p:spPr>
        </p:pic>
      </p:grpSp>
      <p:sp>
        <p:nvSpPr>
          <p:cNvPr id="110" name="Object 110"/>
          <p:cNvSpPr txBox="1"/>
          <p:nvPr/>
        </p:nvSpPr>
        <p:spPr>
          <a:xfrm>
            <a:off x="7536029" y="3283158"/>
            <a:ext cx="3213655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000" kern="0" spc="-100" dirty="0">
                <a:solidFill>
                  <a:srgbClr val="FFFFFF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Roboto Thin" pitchFamily="34" charset="0"/>
              </a:rPr>
              <a:t>VS</a:t>
            </a:r>
            <a:endParaRPr 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86" name="Object 70">
            <a:extLst>
              <a:ext uri="{FF2B5EF4-FFF2-40B4-BE49-F238E27FC236}">
                <a16:creationId xmlns:a16="http://schemas.microsoft.com/office/drawing/2014/main" id="{93016E10-E9E5-09A7-9177-87CABFABF4F2}"/>
              </a:ext>
            </a:extLst>
          </p:cNvPr>
          <p:cNvSpPr txBox="1"/>
          <p:nvPr/>
        </p:nvSpPr>
        <p:spPr>
          <a:xfrm>
            <a:off x="7530544" y="6502474"/>
            <a:ext cx="321365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200" dirty="0">
                <a:solidFill>
                  <a:srgbClr val="595959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인구수 순위</a:t>
            </a:r>
            <a:endParaRPr lang="en-US" sz="24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-857142" y="647700"/>
            <a:ext cx="19999996" cy="685279"/>
            <a:chOff x="-857142" y="647700"/>
            <a:chExt cx="19999996" cy="685279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993553" y="1205130"/>
              <a:ext cx="16298609" cy="127849"/>
              <a:chOff x="993553" y="1205130"/>
              <a:chExt cx="16298609" cy="127849"/>
            </a:xfrm>
          </p:grpSpPr>
          <p:pic>
            <p:nvPicPr>
              <p:cNvPr id="11" name="Object 10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993553" y="1205130"/>
                <a:ext cx="16298609" cy="127849"/>
              </a:xfrm>
              <a:prstGeom prst="rect">
                <a:avLst/>
              </a:prstGeom>
            </p:spPr>
          </p:pic>
        </p:grpSp>
        <p:sp>
          <p:nvSpPr>
            <p:cNvPr id="13" name="Object 13"/>
            <p:cNvSpPr txBox="1"/>
            <p:nvPr/>
          </p:nvSpPr>
          <p:spPr>
            <a:xfrm>
              <a:off x="-857142" y="647700"/>
              <a:ext cx="19999996" cy="5847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ko-KR" altLang="en-US" sz="3200" dirty="0">
                  <a:solidFill>
                    <a:srgbClr val="000000"/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  <a:cs typeface="THELuxGoEB_U" pitchFamily="34" charset="0"/>
                </a:rPr>
                <a:t>양측 의견</a:t>
              </a:r>
              <a:endParaRPr 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</p:grpSp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93553" y="3640072"/>
            <a:ext cx="7097134" cy="5642095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0195028" y="3640072"/>
            <a:ext cx="7097134" cy="5642095"/>
            <a:chOff x="10195028" y="3640072"/>
            <a:chExt cx="7097134" cy="564209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95028" y="3640072"/>
              <a:ext cx="7097134" cy="5642095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030425" y="3274100"/>
            <a:ext cx="1023389" cy="731943"/>
            <a:chOff x="4030425" y="3274100"/>
            <a:chExt cx="1023389" cy="731943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-10800000">
              <a:off x="4030425" y="3274100"/>
              <a:ext cx="1023389" cy="731943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993553" y="2096640"/>
            <a:ext cx="7097134" cy="1543432"/>
            <a:chOff x="993553" y="2096640"/>
            <a:chExt cx="7097134" cy="1543432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3553" y="2096640"/>
              <a:ext cx="7097134" cy="1543432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3231900" y="3274100"/>
            <a:ext cx="1023389" cy="731943"/>
            <a:chOff x="13231900" y="3274100"/>
            <a:chExt cx="1023389" cy="731943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-10800000">
              <a:off x="13231900" y="3274100"/>
              <a:ext cx="1023389" cy="731943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0195028" y="2096640"/>
            <a:ext cx="7097134" cy="1543432"/>
            <a:chOff x="10195028" y="2096640"/>
            <a:chExt cx="7097134" cy="1543432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95028" y="2096640"/>
              <a:ext cx="7097134" cy="1543432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7536029" y="5177193"/>
            <a:ext cx="3213655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kern="0" spc="-100" dirty="0">
                <a:solidFill>
                  <a:srgbClr val="C2C2C2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Roboto Thin" pitchFamily="34" charset="0"/>
              </a:rPr>
              <a:t>VS</a:t>
            </a:r>
            <a:endParaRPr 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884471" y="6350645"/>
            <a:ext cx="844889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800" dirty="0">
                <a:solidFill>
                  <a:srgbClr val="FFFFFF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Gmarket Sans Bold" pitchFamily="34" charset="0"/>
              </a:rPr>
              <a:t>38%</a:t>
            </a:r>
            <a:endParaRPr 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373459" y="6350645"/>
            <a:ext cx="844889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800" dirty="0">
                <a:solidFill>
                  <a:srgbClr val="FFFFFF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Gmarket Sans Bold" pitchFamily="34" charset="0"/>
              </a:rPr>
              <a:t>12%</a:t>
            </a:r>
            <a:endParaRPr 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grpSp>
        <p:nvGrpSpPr>
          <p:cNvPr id="1019" name="그룹 1019"/>
          <p:cNvGrpSpPr/>
          <p:nvPr/>
        </p:nvGrpSpPr>
        <p:grpSpPr>
          <a:xfrm>
            <a:off x="1377149" y="4762500"/>
            <a:ext cx="1976226" cy="1476118"/>
            <a:chOff x="1377149" y="7407215"/>
            <a:chExt cx="1976226" cy="1476118"/>
          </a:xfrm>
        </p:grpSpPr>
        <p:pic>
          <p:nvPicPr>
            <p:cNvPr id="69" name="Object 68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77149" y="7407215"/>
              <a:ext cx="1976226" cy="1476118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5730864" y="4790818"/>
            <a:ext cx="1976226" cy="1476118"/>
            <a:chOff x="5730864" y="7407215"/>
            <a:chExt cx="1976226" cy="1476118"/>
          </a:xfrm>
        </p:grpSpPr>
        <p:pic>
          <p:nvPicPr>
            <p:cNvPr id="72" name="Object 7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30864" y="7407215"/>
              <a:ext cx="1976226" cy="1476118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3554007" y="4790818"/>
            <a:ext cx="1976226" cy="1476118"/>
            <a:chOff x="3554007" y="7407215"/>
            <a:chExt cx="1976226" cy="1476118"/>
          </a:xfrm>
        </p:grpSpPr>
        <p:pic>
          <p:nvPicPr>
            <p:cNvPr id="75" name="Object 74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54007" y="7407215"/>
              <a:ext cx="1976226" cy="1476118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3059953" y="4937969"/>
            <a:ext cx="2964339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600" i="0" dirty="0">
                <a:solidFill>
                  <a:schemeClr val="bg1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경제적 </a:t>
            </a:r>
            <a:endParaRPr lang="en-US" altLang="ko-KR" sz="3600" i="0" dirty="0">
              <a:solidFill>
                <a:schemeClr val="bg1"/>
              </a:solidFill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algn="ctr"/>
            <a:r>
              <a:rPr lang="ko-KR" altLang="en-US" sz="3600" i="0" dirty="0">
                <a:solidFill>
                  <a:schemeClr val="bg1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실익</a:t>
            </a:r>
            <a:endParaRPr lang="en-US" sz="3600" dirty="0"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38200" y="4940430"/>
            <a:ext cx="2964339" cy="1138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600" i="0" dirty="0">
                <a:solidFill>
                  <a:schemeClr val="bg1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남북의</a:t>
            </a:r>
            <a:r>
              <a:rPr lang="ko-KR" altLang="en-US" sz="3200" b="1" i="0" dirty="0">
                <a:solidFill>
                  <a:schemeClr val="bg1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endParaRPr lang="en-US" altLang="ko-KR" sz="3200" b="1" i="0" dirty="0">
              <a:solidFill>
                <a:schemeClr val="bg1"/>
              </a:solidFill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algn="ctr"/>
            <a:r>
              <a:rPr lang="ko-KR" altLang="en-US" sz="3200" i="0" dirty="0">
                <a:solidFill>
                  <a:schemeClr val="bg1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긴장완화</a:t>
            </a:r>
            <a:endParaRPr lang="en-US" sz="3200" dirty="0"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236808" y="4762500"/>
            <a:ext cx="296433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800" i="0" dirty="0">
                <a:solidFill>
                  <a:schemeClr val="bg1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북한의 </a:t>
            </a:r>
            <a:endParaRPr lang="en-US" altLang="ko-KR" sz="2800" i="0" dirty="0">
              <a:solidFill>
                <a:schemeClr val="bg1"/>
              </a:solidFill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algn="ctr"/>
            <a:r>
              <a:rPr lang="ko-KR" altLang="en-US" sz="2800" i="0" dirty="0">
                <a:solidFill>
                  <a:schemeClr val="bg1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지하자원 </a:t>
            </a:r>
            <a:endParaRPr lang="en-US" altLang="ko-KR" sz="2800" i="0" dirty="0">
              <a:solidFill>
                <a:schemeClr val="bg1"/>
              </a:solidFill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algn="ctr"/>
            <a:r>
              <a:rPr lang="ko-KR" altLang="en-US" sz="2800" i="0" dirty="0">
                <a:solidFill>
                  <a:schemeClr val="bg1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활용</a:t>
            </a:r>
            <a:endParaRPr lang="en-US" sz="2800" dirty="0"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grpSp>
        <p:nvGrpSpPr>
          <p:cNvPr id="1025" name="그룹 1025"/>
          <p:cNvGrpSpPr/>
          <p:nvPr/>
        </p:nvGrpSpPr>
        <p:grpSpPr>
          <a:xfrm>
            <a:off x="10578624" y="4802254"/>
            <a:ext cx="2894720" cy="1436364"/>
            <a:chOff x="13869048" y="7834536"/>
            <a:chExt cx="3039518" cy="1063396"/>
          </a:xfrm>
        </p:grpSpPr>
        <p:pic>
          <p:nvPicPr>
            <p:cNvPr id="90" name="Object 89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69048" y="7834536"/>
              <a:ext cx="3039518" cy="106339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682C9E5-D3BF-1ECD-93D0-6FA4078C54A9}"/>
              </a:ext>
            </a:extLst>
          </p:cNvPr>
          <p:cNvSpPr txBox="1"/>
          <p:nvPr/>
        </p:nvSpPr>
        <p:spPr>
          <a:xfrm>
            <a:off x="1828800" y="2476500"/>
            <a:ext cx="5303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통일에 대해 찬성 하는 의견</a:t>
            </a:r>
          </a:p>
        </p:txBody>
      </p:sp>
      <p:grpSp>
        <p:nvGrpSpPr>
          <p:cNvPr id="106" name="그룹 1020">
            <a:extLst>
              <a:ext uri="{FF2B5EF4-FFF2-40B4-BE49-F238E27FC236}">
                <a16:creationId xmlns:a16="http://schemas.microsoft.com/office/drawing/2014/main" id="{97A17EBC-3089-E7D7-572E-9DBD78EB996C}"/>
              </a:ext>
            </a:extLst>
          </p:cNvPr>
          <p:cNvGrpSpPr/>
          <p:nvPr/>
        </p:nvGrpSpPr>
        <p:grpSpPr>
          <a:xfrm>
            <a:off x="1377149" y="6700080"/>
            <a:ext cx="6182033" cy="1476118"/>
            <a:chOff x="5730864" y="7407215"/>
            <a:chExt cx="1976226" cy="1476118"/>
          </a:xfrm>
        </p:grpSpPr>
        <p:pic>
          <p:nvPicPr>
            <p:cNvPr id="108" name="Object 71">
              <a:extLst>
                <a:ext uri="{FF2B5EF4-FFF2-40B4-BE49-F238E27FC236}">
                  <a16:creationId xmlns:a16="http://schemas.microsoft.com/office/drawing/2014/main" id="{38D8B292-5C8E-8066-90FC-1D1A30C99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30864" y="7407215"/>
              <a:ext cx="1976226" cy="1476118"/>
            </a:xfrm>
            <a:prstGeom prst="rect">
              <a:avLst/>
            </a:prstGeom>
          </p:spPr>
        </p:pic>
      </p:grpSp>
      <p:sp>
        <p:nvSpPr>
          <p:cNvPr id="110" name="Object 79">
            <a:extLst>
              <a:ext uri="{FF2B5EF4-FFF2-40B4-BE49-F238E27FC236}">
                <a16:creationId xmlns:a16="http://schemas.microsoft.com/office/drawing/2014/main" id="{95986303-72B9-C51B-F8DA-960DE0FF3ADC}"/>
              </a:ext>
            </a:extLst>
          </p:cNvPr>
          <p:cNvSpPr txBox="1"/>
          <p:nvPr/>
        </p:nvSpPr>
        <p:spPr>
          <a:xfrm>
            <a:off x="3083110" y="6908785"/>
            <a:ext cx="2964336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등급의 향상 국가신용</a:t>
            </a:r>
            <a:endParaRPr lang="en-US" sz="3200" dirty="0"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117" name="Object 78">
            <a:extLst>
              <a:ext uri="{FF2B5EF4-FFF2-40B4-BE49-F238E27FC236}">
                <a16:creationId xmlns:a16="http://schemas.microsoft.com/office/drawing/2014/main" id="{8F905232-12BB-9CCD-2598-45AE69FECA75}"/>
              </a:ext>
            </a:extLst>
          </p:cNvPr>
          <p:cNvSpPr txBox="1"/>
          <p:nvPr/>
        </p:nvSpPr>
        <p:spPr>
          <a:xfrm>
            <a:off x="10523061" y="4882635"/>
            <a:ext cx="2964339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600" i="0" dirty="0">
                <a:solidFill>
                  <a:schemeClr val="bg1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경쟁 </a:t>
            </a:r>
            <a:endParaRPr lang="en-US" altLang="ko-KR" sz="3600" i="0" dirty="0">
              <a:solidFill>
                <a:schemeClr val="bg1"/>
              </a:solidFill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algn="ctr"/>
            <a:r>
              <a:rPr lang="ko-KR" altLang="en-US" sz="3600" i="0" dirty="0">
                <a:solidFill>
                  <a:schemeClr val="bg1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수준 격차</a:t>
            </a:r>
            <a:endParaRPr lang="en-US" sz="3600" dirty="0"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grpSp>
        <p:nvGrpSpPr>
          <p:cNvPr id="119" name="그룹 1025">
            <a:extLst>
              <a:ext uri="{FF2B5EF4-FFF2-40B4-BE49-F238E27FC236}">
                <a16:creationId xmlns:a16="http://schemas.microsoft.com/office/drawing/2014/main" id="{78423DDE-3E3D-F7CB-D62F-261492544554}"/>
              </a:ext>
            </a:extLst>
          </p:cNvPr>
          <p:cNvGrpSpPr/>
          <p:nvPr/>
        </p:nvGrpSpPr>
        <p:grpSpPr>
          <a:xfrm>
            <a:off x="13865970" y="4825500"/>
            <a:ext cx="2894720" cy="1436364"/>
            <a:chOff x="13869048" y="7834536"/>
            <a:chExt cx="3039518" cy="1063396"/>
          </a:xfrm>
        </p:grpSpPr>
        <p:pic>
          <p:nvPicPr>
            <p:cNvPr id="124" name="Object 89">
              <a:extLst>
                <a:ext uri="{FF2B5EF4-FFF2-40B4-BE49-F238E27FC236}">
                  <a16:creationId xmlns:a16="http://schemas.microsoft.com/office/drawing/2014/main" id="{58AE9A49-7BE3-B528-2DB7-B8780B696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69048" y="7834536"/>
              <a:ext cx="3039518" cy="1063396"/>
            </a:xfrm>
            <a:prstGeom prst="rect">
              <a:avLst/>
            </a:prstGeom>
          </p:spPr>
        </p:pic>
      </p:grpSp>
      <p:sp>
        <p:nvSpPr>
          <p:cNvPr id="126" name="Object 78">
            <a:extLst>
              <a:ext uri="{FF2B5EF4-FFF2-40B4-BE49-F238E27FC236}">
                <a16:creationId xmlns:a16="http://schemas.microsoft.com/office/drawing/2014/main" id="{5910126E-FAC2-19BD-862F-3F69EDD25303}"/>
              </a:ext>
            </a:extLst>
          </p:cNvPr>
          <p:cNvSpPr txBox="1"/>
          <p:nvPr/>
        </p:nvSpPr>
        <p:spPr>
          <a:xfrm>
            <a:off x="13796351" y="4836379"/>
            <a:ext cx="2964339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fontAlgn="base"/>
            <a:r>
              <a:rPr lang="ko-KR" altLang="en-US" sz="2800" i="0" dirty="0">
                <a:solidFill>
                  <a:schemeClr val="bg1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남북간 </a:t>
            </a:r>
            <a:endParaRPr lang="en-US" altLang="ko-KR" sz="2800" i="0" dirty="0">
              <a:solidFill>
                <a:schemeClr val="bg1"/>
              </a:solidFill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algn="ctr" fontAlgn="base"/>
            <a:r>
              <a:rPr lang="ko-KR" altLang="en-US" sz="2800" i="0" dirty="0">
                <a:solidFill>
                  <a:schemeClr val="bg1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문화차이로 </a:t>
            </a:r>
            <a:endParaRPr lang="en-US" altLang="ko-KR" sz="2800" i="0" dirty="0">
              <a:solidFill>
                <a:schemeClr val="bg1"/>
              </a:solidFill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algn="ctr" fontAlgn="base"/>
            <a:r>
              <a:rPr lang="ko-KR" altLang="en-US" sz="2800" i="0" dirty="0">
                <a:solidFill>
                  <a:schemeClr val="bg1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오는 갈등</a:t>
            </a:r>
          </a:p>
        </p:txBody>
      </p:sp>
      <p:grpSp>
        <p:nvGrpSpPr>
          <p:cNvPr id="139" name="그룹 1025">
            <a:extLst>
              <a:ext uri="{FF2B5EF4-FFF2-40B4-BE49-F238E27FC236}">
                <a16:creationId xmlns:a16="http://schemas.microsoft.com/office/drawing/2014/main" id="{1297ED9E-4401-AE12-B222-1B5A30C2315B}"/>
              </a:ext>
            </a:extLst>
          </p:cNvPr>
          <p:cNvGrpSpPr/>
          <p:nvPr/>
        </p:nvGrpSpPr>
        <p:grpSpPr>
          <a:xfrm>
            <a:off x="10578657" y="6705864"/>
            <a:ext cx="6182033" cy="1436364"/>
            <a:chOff x="14046268" y="9364554"/>
            <a:chExt cx="3039518" cy="1063396"/>
          </a:xfrm>
        </p:grpSpPr>
        <p:pic>
          <p:nvPicPr>
            <p:cNvPr id="140" name="Object 89">
              <a:extLst>
                <a:ext uri="{FF2B5EF4-FFF2-40B4-BE49-F238E27FC236}">
                  <a16:creationId xmlns:a16="http://schemas.microsoft.com/office/drawing/2014/main" id="{DC07F7E6-931E-EECF-FFAA-1DE14409C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046268" y="9364554"/>
              <a:ext cx="3039518" cy="1063396"/>
            </a:xfrm>
            <a:prstGeom prst="rect">
              <a:avLst/>
            </a:prstGeom>
          </p:spPr>
        </p:pic>
      </p:grpSp>
      <p:sp>
        <p:nvSpPr>
          <p:cNvPr id="130" name="Object 79">
            <a:extLst>
              <a:ext uri="{FF2B5EF4-FFF2-40B4-BE49-F238E27FC236}">
                <a16:creationId xmlns:a16="http://schemas.microsoft.com/office/drawing/2014/main" id="{9DE0DD19-65B2-EB46-A416-ABE00F212036}"/>
              </a:ext>
            </a:extLst>
          </p:cNvPr>
          <p:cNvSpPr txBox="1"/>
          <p:nvPr/>
        </p:nvSpPr>
        <p:spPr>
          <a:xfrm>
            <a:off x="12275664" y="6896100"/>
            <a:ext cx="2964336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200" i="0" dirty="0">
                <a:solidFill>
                  <a:schemeClr val="bg1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바뀐 것 들에 대한 적응</a:t>
            </a:r>
            <a:endParaRPr lang="en-US" sz="3200" dirty="0"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0FAE91E-9655-2765-C68C-22725CC29931}"/>
              </a:ext>
            </a:extLst>
          </p:cNvPr>
          <p:cNvSpPr txBox="1"/>
          <p:nvPr/>
        </p:nvSpPr>
        <p:spPr>
          <a:xfrm>
            <a:off x="11214442" y="2495245"/>
            <a:ext cx="5303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통일에 대해 반대 하는 의견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993553" y="2096640"/>
            <a:ext cx="7097134" cy="7185527"/>
            <a:chOff x="993553" y="2096640"/>
            <a:chExt cx="7097134" cy="718552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553" y="2096640"/>
              <a:ext cx="7097134" cy="718552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756855" y="2096640"/>
            <a:ext cx="7097134" cy="7185527"/>
            <a:chOff x="10195028" y="2096640"/>
            <a:chExt cx="7097134" cy="71855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95028" y="2096640"/>
              <a:ext cx="7097134" cy="718552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-503661" y="5408079"/>
            <a:ext cx="10091565" cy="11695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35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B_U" pitchFamily="34" charset="0"/>
              </a:rPr>
              <a:t>통일을 하는 것에 대해 </a:t>
            </a:r>
            <a:endParaRPr lang="en-US" altLang="ko-KR" sz="3500" dirty="0">
              <a:solidFill>
                <a:srgbClr val="003478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  <a:cs typeface="THELuxGoB_U" pitchFamily="34" charset="0"/>
            </a:endParaRPr>
          </a:p>
          <a:p>
            <a:pPr algn="ctr"/>
            <a:r>
              <a:rPr lang="ko-KR" altLang="en-US" sz="35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찬성한다</a:t>
            </a:r>
            <a:r>
              <a:rPr lang="en-US" altLang="ko-KR" sz="35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endParaRPr 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46724" y="4838700"/>
            <a:ext cx="10117476" cy="22775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ko-KR" altLang="en-US" sz="3500" dirty="0">
                <a:solidFill>
                  <a:srgbClr val="D34E4E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B_U" pitchFamily="34" charset="0"/>
              </a:rPr>
              <a:t>문화적 교류가 늘어남</a:t>
            </a:r>
            <a:endParaRPr lang="en-US" altLang="ko-KR" sz="3500" dirty="0">
              <a:solidFill>
                <a:srgbClr val="D34E4E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  <a:cs typeface="THELuxGoB_U" pitchFamily="34" charset="0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ko-KR" altLang="en-US" sz="3600" b="0" i="0" dirty="0">
                <a:solidFill>
                  <a:srgbClr val="D34E4E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저출산 고령화 문제도 해결</a:t>
            </a:r>
            <a:endParaRPr lang="en-US" altLang="ko-KR" sz="3600" b="0" i="0" dirty="0">
              <a:solidFill>
                <a:srgbClr val="D34E4E"/>
              </a:solidFill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ko-KR" altLang="en-US" sz="3600" dirty="0">
                <a:solidFill>
                  <a:srgbClr val="D34E4E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B_U" pitchFamily="34" charset="0"/>
              </a:rPr>
              <a:t>북한의 많은 자원을 이용한 개발</a:t>
            </a:r>
            <a:endParaRPr lang="en-US" altLang="ko-KR" sz="3600" dirty="0">
              <a:solidFill>
                <a:srgbClr val="D34E4E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  <a:cs typeface="THELuxGoB_U" pitchFamily="34" charset="0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ko-KR" altLang="en-US" sz="3600" dirty="0">
                <a:solidFill>
                  <a:srgbClr val="D34E4E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B_U" pitchFamily="34" charset="0"/>
              </a:rPr>
              <a:t>경제의 성장</a:t>
            </a:r>
            <a:endParaRPr lang="en-US" sz="3500" dirty="0">
              <a:solidFill>
                <a:srgbClr val="D34E4E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  <a:cs typeface="THELuxGoB_U" pitchFamily="34" charset="0"/>
            </a:endParaRPr>
          </a:p>
        </p:txBody>
      </p:sp>
      <p:grpSp>
        <p:nvGrpSpPr>
          <p:cNvPr id="1003" name="그룹 1003"/>
          <p:cNvGrpSpPr/>
          <p:nvPr/>
        </p:nvGrpSpPr>
        <p:grpSpPr>
          <a:xfrm>
            <a:off x="-857142" y="643111"/>
            <a:ext cx="19999996" cy="689868"/>
            <a:chOff x="-857142" y="643111"/>
            <a:chExt cx="19999996" cy="689868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3553" y="1205130"/>
              <a:ext cx="16298609" cy="127849"/>
            </a:xfrm>
            <a:prstGeom prst="rect">
              <a:avLst/>
            </a:prstGeom>
          </p:spPr>
        </p:pic>
        <p:sp>
          <p:nvSpPr>
            <p:cNvPr id="15" name="Object 15"/>
            <p:cNvSpPr txBox="1"/>
            <p:nvPr/>
          </p:nvSpPr>
          <p:spPr>
            <a:xfrm>
              <a:off x="-857142" y="643111"/>
              <a:ext cx="19999996" cy="5847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ko-KR" altLang="en-US" sz="3200" dirty="0">
                  <a:solidFill>
                    <a:srgbClr val="000000"/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  <a:cs typeface="THELuxGoEB_U" pitchFamily="34" charset="0"/>
                </a:rPr>
                <a:t>이에 대한 나의 의견</a:t>
              </a:r>
              <a:endParaRPr 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246724" y="2530614"/>
            <a:ext cx="10117476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4000" kern="0" spc="-100" dirty="0">
                <a:solidFill>
                  <a:srgbClr val="00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L_U" pitchFamily="34" charset="0"/>
              </a:rPr>
              <a:t>의견에 대한 근거</a:t>
            </a:r>
            <a:endParaRPr 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-516618" y="2454414"/>
            <a:ext cx="10117476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4000" kern="0" spc="-100" dirty="0">
                <a:solidFill>
                  <a:srgbClr val="00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나의 주장</a:t>
            </a:r>
            <a:endParaRPr 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grpSp>
        <p:nvGrpSpPr>
          <p:cNvPr id="1009" name="그룹 1009"/>
          <p:cNvGrpSpPr/>
          <p:nvPr/>
        </p:nvGrpSpPr>
        <p:grpSpPr>
          <a:xfrm>
            <a:off x="1377149" y="3156331"/>
            <a:ext cx="6329941" cy="82169"/>
            <a:chOff x="1377149" y="5970129"/>
            <a:chExt cx="6329941" cy="82169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7149" y="5970129"/>
              <a:ext cx="6329941" cy="82169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0140451" y="3243591"/>
            <a:ext cx="6329941" cy="82169"/>
            <a:chOff x="10578624" y="5970129"/>
            <a:chExt cx="6329941" cy="82169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78624" y="5970129"/>
              <a:ext cx="6329941" cy="8216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1748342" y="4861093"/>
            <a:ext cx="6408801" cy="4423395"/>
            <a:chOff x="1748342" y="4861093"/>
            <a:chExt cx="6408801" cy="4423395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8342" y="4861093"/>
              <a:ext cx="6408801" cy="442339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993552" y="9081924"/>
            <a:ext cx="16328641" cy="202564"/>
            <a:chOff x="993552" y="9081924"/>
            <a:chExt cx="16328641" cy="202564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552" y="9081924"/>
              <a:ext cx="16328641" cy="202564"/>
            </a:xfrm>
            <a:prstGeom prst="rect">
              <a:avLst/>
            </a:prstGeom>
          </p:spPr>
        </p:pic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023CFB8A-382E-620C-761C-CB7163E44FF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0" y="3813238"/>
            <a:ext cx="3733800" cy="526868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-4577229" y="876300"/>
            <a:ext cx="27463376" cy="74664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8000" dirty="0">
                <a:solidFill>
                  <a:srgbClr val="FFFFFF"/>
                </a:solidFill>
                <a:latin typeface="Sedgwick Ave" pitchFamily="34" charset="0"/>
                <a:cs typeface="Sedgwick Ave" pitchFamily="34" charset="0"/>
              </a:rPr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130</Words>
  <Application>Microsoft Office PowerPoint</Application>
  <PresentationFormat>사용자 지정</PresentationFormat>
  <Paragraphs>51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12롯데마트드림Bold</vt:lpstr>
      <vt:lpstr>Sedgwick Ave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didtjr5080</cp:lastModifiedBy>
  <cp:revision>11</cp:revision>
  <dcterms:created xsi:type="dcterms:W3CDTF">2022-05-15T16:53:59Z</dcterms:created>
  <dcterms:modified xsi:type="dcterms:W3CDTF">2022-05-15T15:17:57Z</dcterms:modified>
</cp:coreProperties>
</file>